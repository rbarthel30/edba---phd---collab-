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F7931-D9C8-2C29-E171-DF63C51924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D79EF-717C-334F-6D6D-16628E59C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BF150-EDBA-5482-897A-DA2CA3BC4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3B3C1-FB04-4C34-7691-5307A23A9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99C6A-CE45-C0CD-4C6D-AFFBB5D7D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47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AC63-5E50-F605-2F80-43127D58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ABEAB-7ED5-8944-BD8A-E1B6B075A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10CA6-1B57-53F1-846B-0BBD1D0A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9FD23-754E-F135-F574-3A7B4B6F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CBDF2-7D7F-4213-6903-567A0BA6A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87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6997B-B2AF-F3B0-F799-FBBAB52B0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F3871-8A36-7929-DA93-F39A9AB24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AE4EE-19EE-C891-9DAC-A42FC64B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AEE07-277E-81B1-0DB2-514500B9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4A784-615A-DFBC-5EC5-B2A1C39B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7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0AE4-BC24-3778-C00F-12F9B837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393FD-677A-76AB-E718-96E23C2B3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896F46-E1DF-5A5A-7A37-0194DF3A5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39307-5729-266D-8303-362C9543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14DF3-5CAF-6FEA-074D-A8AE7F84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60AD3-B78B-BC4D-7EEC-1402973C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12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29716-A3A9-AE6A-A283-D203374A6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5B587-9938-D9B3-CC50-261C62516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062ED-3CB2-D7EE-3E70-AC96E8720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2DC454-F7E4-6CBB-FE9C-48A4E6DC4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C661E-D3DD-CD1D-3301-CDBE47284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9ED61-0D54-3581-DE91-3EAFA5F3C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975011-1CF0-530C-FD31-977535628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970A2-C0D1-FF2E-7519-32373A82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75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6FDA6-1FBB-4611-D19F-9D6FFA2E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08B0B5-3ED0-8382-30ED-8E4B962B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495E0-AEE0-62C1-CCB0-463B2EC1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4C054-184A-F035-54D1-4DDA67AC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2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58177-8BF3-336D-FA3F-A8A3EB16A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CA0E15-D53F-F3FE-6418-D3FDB73E4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995FA-56BF-A4F3-91FF-C68AA5A4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1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9668-7C3A-AA44-EA55-3A19C6967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46282-D8D1-3CC9-ED0D-D8CA5C54C5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7F26C-C1A3-60D9-FAA6-B7D383040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9D21A-ACE8-FEFB-5E6D-FA44E382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E0F74-BA1A-C985-87B1-03E182013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ED911-7255-B9EB-DF5F-78B78BC3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35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0BC8-2CF7-5C40-2489-207769A5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49123E-8BAB-EA33-EBCB-0BC311E6E2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688EB-FCF2-30F1-1FED-1CE3409C6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A60EA8-37DB-4FBC-6376-71E0C73B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8ABDC-3705-84A8-1A30-2B78F867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368FAE-ECAD-81CF-3F83-71E834EDB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5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C5ED2-01BE-45AD-7AEA-3F693720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78A31-C103-D1BF-F018-1EA2EC7C6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8F86A-F45A-12A1-C375-9C6280D9C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9A89F-513E-B28D-E85A-2AB229F2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CC7E3-A98F-77B2-4248-2B468EB7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6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A9D50-4361-0461-37C4-7DB239AA5F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F6859-DD4C-2828-0361-F3B3E9F93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12853-BC16-A17B-5F7D-F7973FA7D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6EBD-7749-AEDE-328F-DA8948595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B0B9-BB6D-9ACD-E1BF-BFD3B135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B7A68-6ECA-957F-928A-422039722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952D1B-80FD-EBD7-490E-079312920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C7B10-F0F3-FAE1-EDC2-7CBA4FC94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F2A9A5-BD3C-4589-97CA-F87156E2D406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9E682-38D6-C10A-7152-2EF7B8802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12465-1485-BBBA-4B42-4FEA0A671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1AB72-1834-4B8F-87F7-0679C098D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E7A26B2-4548-E874-98E8-442B30449371}"/>
              </a:ext>
            </a:extLst>
          </p:cNvPr>
          <p:cNvCxnSpPr>
            <a:cxnSpLocks/>
            <a:stCxn id="17" idx="2"/>
            <a:endCxn id="6" idx="6"/>
          </p:cNvCxnSpPr>
          <p:nvPr/>
        </p:nvCxnSpPr>
        <p:spPr>
          <a:xfrm flipV="1">
            <a:off x="1609521" y="3613266"/>
            <a:ext cx="7951148" cy="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E25B0DD5-0472-A728-1221-79382E6D2491}"/>
              </a:ext>
            </a:extLst>
          </p:cNvPr>
          <p:cNvSpPr/>
          <p:nvPr/>
        </p:nvSpPr>
        <p:spPr>
          <a:xfrm>
            <a:off x="9406754" y="3541961"/>
            <a:ext cx="153915" cy="1426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A672BF8-D718-18C8-394C-1B9895D6CD7E}"/>
              </a:ext>
            </a:extLst>
          </p:cNvPr>
          <p:cNvCxnSpPr>
            <a:cxnSpLocks/>
            <a:stCxn id="6" idx="0"/>
            <a:endCxn id="12" idx="0"/>
          </p:cNvCxnSpPr>
          <p:nvPr/>
        </p:nvCxnSpPr>
        <p:spPr>
          <a:xfrm flipH="1">
            <a:off x="9483711" y="3541961"/>
            <a:ext cx="1" cy="6333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CCF6DE-7C0A-C3E2-EC84-82433B65B092}"/>
              </a:ext>
            </a:extLst>
          </p:cNvPr>
          <p:cNvSpPr/>
          <p:nvPr/>
        </p:nvSpPr>
        <p:spPr>
          <a:xfrm>
            <a:off x="8745523" y="4175331"/>
            <a:ext cx="1476375" cy="561975"/>
          </a:xfrm>
          <a:prstGeom prst="roundRect">
            <a:avLst/>
          </a:prstGeom>
          <a:solidFill>
            <a:srgbClr val="FF79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FDA Warning Letter Issued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F6DC86-0C39-5BEE-E9D7-6BA3FB336A24}"/>
              </a:ext>
            </a:extLst>
          </p:cNvPr>
          <p:cNvSpPr txBox="1"/>
          <p:nvPr/>
        </p:nvSpPr>
        <p:spPr>
          <a:xfrm rot="16200000">
            <a:off x="-345034" y="2103905"/>
            <a:ext cx="16592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FDA Monitors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8979FC-40CE-F493-183D-3E92136CBD17}"/>
              </a:ext>
            </a:extLst>
          </p:cNvPr>
          <p:cNvSpPr txBox="1"/>
          <p:nvPr/>
        </p:nvSpPr>
        <p:spPr>
          <a:xfrm rot="16200000">
            <a:off x="-280465" y="4506159"/>
            <a:ext cx="1530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FDA Actions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F1E74C-4950-6196-88AB-2973C9EDE815}"/>
              </a:ext>
            </a:extLst>
          </p:cNvPr>
          <p:cNvGrpSpPr/>
          <p:nvPr/>
        </p:nvGrpSpPr>
        <p:grpSpPr>
          <a:xfrm flipV="1">
            <a:off x="1609521" y="2735262"/>
            <a:ext cx="153915" cy="950008"/>
            <a:chOff x="1781174" y="2093303"/>
            <a:chExt cx="153915" cy="95000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D7B5F30-78D2-68E1-99F4-3E7DA930E03C}"/>
                </a:ext>
              </a:extLst>
            </p:cNvPr>
            <p:cNvSpPr/>
            <p:nvPr/>
          </p:nvSpPr>
          <p:spPr>
            <a:xfrm>
              <a:off x="1781174" y="2093303"/>
              <a:ext cx="153915" cy="14260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525CC73-356C-7856-1576-41348950170A}"/>
                </a:ext>
              </a:extLst>
            </p:cNvPr>
            <p:cNvCxnSpPr>
              <a:cxnSpLocks/>
              <a:stCxn id="17" idx="0"/>
              <a:endCxn id="22" idx="2"/>
            </p:cNvCxnSpPr>
            <p:nvPr/>
          </p:nvCxnSpPr>
          <p:spPr>
            <a:xfrm flipH="1">
              <a:off x="1858131" y="2093303"/>
              <a:ext cx="1" cy="9500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DA58BC57-6265-A0C7-2A1D-B6D0CB0C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1" y="65102"/>
            <a:ext cx="11633200" cy="897730"/>
          </a:xfrm>
        </p:spPr>
        <p:txBody>
          <a:bodyPr>
            <a:normAutofit/>
          </a:bodyPr>
          <a:lstStyle/>
          <a:p>
            <a:r>
              <a:rPr lang="en-US" sz="4000" u="sng" dirty="0"/>
              <a:t>FDA Monitoring and Actions on Marketed Product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FCFDBB6-5F7B-2491-74AE-68C46FF246B1}"/>
              </a:ext>
            </a:extLst>
          </p:cNvPr>
          <p:cNvSpPr/>
          <p:nvPr/>
        </p:nvSpPr>
        <p:spPr>
          <a:xfrm>
            <a:off x="948290" y="1837532"/>
            <a:ext cx="1476375" cy="89773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Adverse Events and Device Malfunctions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(Part 803)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B8BBE7-6076-6734-B388-0A5CD7B25D9B}"/>
              </a:ext>
            </a:extLst>
          </p:cNvPr>
          <p:cNvSpPr txBox="1"/>
          <p:nvPr/>
        </p:nvSpPr>
        <p:spPr>
          <a:xfrm>
            <a:off x="948289" y="1524881"/>
            <a:ext cx="1476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(MAUDE Database)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A5E4CF-DC16-B2F6-6E4D-48E3B3534F03}"/>
              </a:ext>
            </a:extLst>
          </p:cNvPr>
          <p:cNvSpPr txBox="1"/>
          <p:nvPr/>
        </p:nvSpPr>
        <p:spPr>
          <a:xfrm>
            <a:off x="5595455" y="6450837"/>
            <a:ext cx="65076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Medical Devices are governed by the Code of Federal Regulations, Title 21, Sections 800 – 898.   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0FF7C9-E4DC-C6BD-EA48-893F496A840B}"/>
              </a:ext>
            </a:extLst>
          </p:cNvPr>
          <p:cNvGrpSpPr/>
          <p:nvPr/>
        </p:nvGrpSpPr>
        <p:grpSpPr>
          <a:xfrm flipV="1">
            <a:off x="3488827" y="2735262"/>
            <a:ext cx="153915" cy="950008"/>
            <a:chOff x="1781174" y="2093303"/>
            <a:chExt cx="153915" cy="950008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E462E17-5219-9D54-4E3C-CD4E338D2672}"/>
                </a:ext>
              </a:extLst>
            </p:cNvPr>
            <p:cNvSpPr/>
            <p:nvPr/>
          </p:nvSpPr>
          <p:spPr>
            <a:xfrm>
              <a:off x="1781174" y="2093303"/>
              <a:ext cx="153915" cy="14260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7DB6E63-C957-B3C0-1E55-C71093DCB11C}"/>
                </a:ext>
              </a:extLst>
            </p:cNvPr>
            <p:cNvCxnSpPr>
              <a:cxnSpLocks/>
              <a:stCxn id="29" idx="0"/>
              <a:endCxn id="31" idx="2"/>
            </p:cNvCxnSpPr>
            <p:nvPr/>
          </p:nvCxnSpPr>
          <p:spPr>
            <a:xfrm flipH="1">
              <a:off x="1858131" y="2093303"/>
              <a:ext cx="1" cy="9500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B817574-EFB4-0129-1B4E-B6BBFE0111AE}"/>
              </a:ext>
            </a:extLst>
          </p:cNvPr>
          <p:cNvSpPr/>
          <p:nvPr/>
        </p:nvSpPr>
        <p:spPr>
          <a:xfrm>
            <a:off x="2827596" y="1837532"/>
            <a:ext cx="1476375" cy="89773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Corrections and Removals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(Part 806)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3E83DC-848F-8FA2-0DB3-EA73FD44FA18}"/>
              </a:ext>
            </a:extLst>
          </p:cNvPr>
          <p:cNvSpPr txBox="1"/>
          <p:nvPr/>
        </p:nvSpPr>
        <p:spPr>
          <a:xfrm>
            <a:off x="2827595" y="1524881"/>
            <a:ext cx="14763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(Recalls Database)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96A07BA-6132-4F7B-C6D7-4EBBA4A2487D}"/>
              </a:ext>
            </a:extLst>
          </p:cNvPr>
          <p:cNvSpPr/>
          <p:nvPr/>
        </p:nvSpPr>
        <p:spPr>
          <a:xfrm>
            <a:off x="4135336" y="3542661"/>
            <a:ext cx="153915" cy="1426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80343C7-1630-2CA9-6C35-5D920770F3EC}"/>
              </a:ext>
            </a:extLst>
          </p:cNvPr>
          <p:cNvSpPr/>
          <p:nvPr/>
        </p:nvSpPr>
        <p:spPr>
          <a:xfrm>
            <a:off x="2165037" y="4345071"/>
            <a:ext cx="1476375" cy="91272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FDA For Cause Inspection (Remote or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On-Site)</a:t>
            </a:r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63A28592-4282-B100-C951-DE4E6796D62F}"/>
              </a:ext>
            </a:extLst>
          </p:cNvPr>
          <p:cNvSpPr/>
          <p:nvPr/>
        </p:nvSpPr>
        <p:spPr>
          <a:xfrm rot="5400000">
            <a:off x="2471865" y="2971187"/>
            <a:ext cx="307772" cy="1878545"/>
          </a:xfrm>
          <a:prstGeom prst="rightBrace">
            <a:avLst>
              <a:gd name="adj1" fmla="val 8333"/>
              <a:gd name="adj2" fmla="val 3580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43491B-06A7-0766-253C-C764A4E1C6F2}"/>
              </a:ext>
            </a:extLst>
          </p:cNvPr>
          <p:cNvSpPr txBox="1"/>
          <p:nvPr/>
        </p:nvSpPr>
        <p:spPr>
          <a:xfrm>
            <a:off x="1872731" y="3617999"/>
            <a:ext cx="1476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Concerns or Signals</a:t>
            </a:r>
          </a:p>
        </p:txBody>
      </p: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132579A3-2237-50BC-7648-32433F5FE047}"/>
              </a:ext>
            </a:extLst>
          </p:cNvPr>
          <p:cNvCxnSpPr>
            <a:cxnSpLocks/>
            <a:stCxn id="38" idx="0"/>
            <a:endCxn id="40" idx="3"/>
          </p:cNvCxnSpPr>
          <p:nvPr/>
        </p:nvCxnSpPr>
        <p:spPr>
          <a:xfrm rot="16200000" flipH="1" flipV="1">
            <a:off x="3297467" y="3886605"/>
            <a:ext cx="1258771" cy="570882"/>
          </a:xfrm>
          <a:prstGeom prst="bentConnector4">
            <a:avLst>
              <a:gd name="adj1" fmla="val 99883"/>
              <a:gd name="adj2" fmla="val 5674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437D252-B321-5FF9-25E2-06EC4F45A7BE}"/>
              </a:ext>
            </a:extLst>
          </p:cNvPr>
          <p:cNvSpPr/>
          <p:nvPr/>
        </p:nvSpPr>
        <p:spPr>
          <a:xfrm>
            <a:off x="4584694" y="4345078"/>
            <a:ext cx="1476375" cy="91271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FDA Inspection Observations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(483 Form)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52F227F-454E-821C-50E4-4DA06823CCC7}"/>
              </a:ext>
            </a:extLst>
          </p:cNvPr>
          <p:cNvSpPr/>
          <p:nvPr/>
        </p:nvSpPr>
        <p:spPr>
          <a:xfrm>
            <a:off x="5982780" y="3549207"/>
            <a:ext cx="153915" cy="1426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A3116A1-E00F-5F51-6D78-09CBAA97C230}"/>
              </a:ext>
            </a:extLst>
          </p:cNvPr>
          <p:cNvCxnSpPr>
            <a:cxnSpLocks/>
            <a:stCxn id="61" idx="0"/>
            <a:endCxn id="63" idx="0"/>
          </p:cNvCxnSpPr>
          <p:nvPr/>
        </p:nvCxnSpPr>
        <p:spPr>
          <a:xfrm flipV="1">
            <a:off x="6059738" y="1801880"/>
            <a:ext cx="1" cy="17473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0FC0F68E-98D6-C099-9925-0FBB9DCF9499}"/>
              </a:ext>
            </a:extLst>
          </p:cNvPr>
          <p:cNvSpPr/>
          <p:nvPr/>
        </p:nvSpPr>
        <p:spPr>
          <a:xfrm>
            <a:off x="5321551" y="1801880"/>
            <a:ext cx="1476375" cy="91271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Company Response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0971E7-45D1-0196-88C0-C2B767F293D6}"/>
              </a:ext>
            </a:extLst>
          </p:cNvPr>
          <p:cNvSpPr txBox="1"/>
          <p:nvPr/>
        </p:nvSpPr>
        <p:spPr>
          <a:xfrm>
            <a:off x="4583364" y="5317737"/>
            <a:ext cx="1476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Call to Action to Cleanup Operations Voluntarily</a:t>
            </a:r>
          </a:p>
        </p:txBody>
      </p:sp>
      <p:sp>
        <p:nvSpPr>
          <p:cNvPr id="66" name="Equals 65">
            <a:extLst>
              <a:ext uri="{FF2B5EF4-FFF2-40B4-BE49-F238E27FC236}">
                <a16:creationId xmlns:a16="http://schemas.microsoft.com/office/drawing/2014/main" id="{180E57E4-7685-9C29-FE04-414402A8335E}"/>
              </a:ext>
            </a:extLst>
          </p:cNvPr>
          <p:cNvSpPr/>
          <p:nvPr/>
        </p:nvSpPr>
        <p:spPr>
          <a:xfrm>
            <a:off x="6950561" y="2134642"/>
            <a:ext cx="526745" cy="380998"/>
          </a:xfrm>
          <a:prstGeom prst="mathEqual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07CE41-45BC-6C32-DA26-F5B2E230155E}"/>
              </a:ext>
            </a:extLst>
          </p:cNvPr>
          <p:cNvSpPr txBox="1"/>
          <p:nvPr/>
        </p:nvSpPr>
        <p:spPr>
          <a:xfrm>
            <a:off x="4532242" y="3313733"/>
            <a:ext cx="1476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 Business Days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5BB4947-0F47-4148-111D-D4A202DEEBBE}"/>
              </a:ext>
            </a:extLst>
          </p:cNvPr>
          <p:cNvSpPr txBox="1"/>
          <p:nvPr/>
        </p:nvSpPr>
        <p:spPr>
          <a:xfrm>
            <a:off x="2165037" y="5317729"/>
            <a:ext cx="14763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with No Concerns or Signals, FDA can choose to inspect based on a calendar schedule &amp; company risk categorization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EBE4F9-9B34-65F4-85F5-6996E07D9C5F}"/>
              </a:ext>
            </a:extLst>
          </p:cNvPr>
          <p:cNvSpPr txBox="1"/>
          <p:nvPr/>
        </p:nvSpPr>
        <p:spPr>
          <a:xfrm>
            <a:off x="8745523" y="4800734"/>
            <a:ext cx="147637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Precursor to severe legal actions, including product seizures, injunctions, or withholding future product approvals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410F63-0A6A-11DB-1AEF-713D7E534401}"/>
              </a:ext>
            </a:extLst>
          </p:cNvPr>
          <p:cNvSpPr txBox="1"/>
          <p:nvPr/>
        </p:nvSpPr>
        <p:spPr>
          <a:xfrm>
            <a:off x="7429129" y="1811932"/>
            <a:ext cx="1476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Response Deemed Inadequate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0B8E4038-8492-CF47-BA6B-D3D9B8865133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8905504" y="2273597"/>
            <a:ext cx="578207" cy="12360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7DF45CD5-60CE-FD5D-A2F6-9B7D4CFAD154}"/>
              </a:ext>
            </a:extLst>
          </p:cNvPr>
          <p:cNvSpPr txBox="1"/>
          <p:nvPr/>
        </p:nvSpPr>
        <p:spPr>
          <a:xfrm>
            <a:off x="7492537" y="3291336"/>
            <a:ext cx="17468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 – 120 Business Days</a:t>
            </a:r>
          </a:p>
        </p:txBody>
      </p: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1D4A7422-CC3B-EB97-860B-C7DA377696B7}"/>
              </a:ext>
            </a:extLst>
          </p:cNvPr>
          <p:cNvCxnSpPr>
            <a:stCxn id="38" idx="4"/>
            <a:endCxn id="54" idx="1"/>
          </p:cNvCxnSpPr>
          <p:nvPr/>
        </p:nvCxnSpPr>
        <p:spPr>
          <a:xfrm rot="16200000" flipH="1">
            <a:off x="3840411" y="4057153"/>
            <a:ext cx="1116166" cy="372400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lowchart: Document 86">
            <a:extLst>
              <a:ext uri="{FF2B5EF4-FFF2-40B4-BE49-F238E27FC236}">
                <a16:creationId xmlns:a16="http://schemas.microsoft.com/office/drawing/2014/main" id="{E49A2D46-7B33-07B5-2EC4-F4A0090EF456}"/>
              </a:ext>
            </a:extLst>
          </p:cNvPr>
          <p:cNvSpPr/>
          <p:nvPr/>
        </p:nvSpPr>
        <p:spPr>
          <a:xfrm>
            <a:off x="10902622" y="3384701"/>
            <a:ext cx="768004" cy="67388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8K</a:t>
            </a:r>
          </a:p>
        </p:txBody>
      </p:sp>
      <p:sp>
        <p:nvSpPr>
          <p:cNvPr id="88" name="Flowchart: Document 87">
            <a:extLst>
              <a:ext uri="{FF2B5EF4-FFF2-40B4-BE49-F238E27FC236}">
                <a16:creationId xmlns:a16="http://schemas.microsoft.com/office/drawing/2014/main" id="{C40F35FA-0C50-B9A1-E71A-11EBFA87C9BD}"/>
              </a:ext>
            </a:extLst>
          </p:cNvPr>
          <p:cNvSpPr/>
          <p:nvPr/>
        </p:nvSpPr>
        <p:spPr>
          <a:xfrm>
            <a:off x="10902622" y="4198942"/>
            <a:ext cx="768004" cy="67388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Press Release</a:t>
            </a:r>
          </a:p>
        </p:txBody>
      </p:sp>
      <p:sp>
        <p:nvSpPr>
          <p:cNvPr id="89" name="Flowchart: Document 88">
            <a:extLst>
              <a:ext uri="{FF2B5EF4-FFF2-40B4-BE49-F238E27FC236}">
                <a16:creationId xmlns:a16="http://schemas.microsoft.com/office/drawing/2014/main" id="{B455F940-2288-62BB-F49E-6B9D0B4988A2}"/>
              </a:ext>
            </a:extLst>
          </p:cNvPr>
          <p:cNvSpPr/>
          <p:nvPr/>
        </p:nvSpPr>
        <p:spPr>
          <a:xfrm>
            <a:off x="10902622" y="5013183"/>
            <a:ext cx="768004" cy="673886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Earnings Calls </a:t>
            </a:r>
          </a:p>
        </p:txBody>
      </p:sp>
      <p:sp>
        <p:nvSpPr>
          <p:cNvPr id="90" name="Right Brace 89">
            <a:extLst>
              <a:ext uri="{FF2B5EF4-FFF2-40B4-BE49-F238E27FC236}">
                <a16:creationId xmlns:a16="http://schemas.microsoft.com/office/drawing/2014/main" id="{E23A3668-4472-5ED3-0840-4062B716C10C}"/>
              </a:ext>
            </a:extLst>
          </p:cNvPr>
          <p:cNvSpPr/>
          <p:nvPr/>
        </p:nvSpPr>
        <p:spPr>
          <a:xfrm rot="10800000">
            <a:off x="10319267" y="3313732"/>
            <a:ext cx="356349" cy="2373336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0400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FDA Monitoring and Actions on Marketed Product</vt:lpstr>
    </vt:vector>
  </TitlesOfParts>
  <Company>Convatec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Cuello, Armando</dc:creator>
  <cp:lastModifiedBy>Cuello, Armando</cp:lastModifiedBy>
  <cp:revision>1</cp:revision>
  <dcterms:created xsi:type="dcterms:W3CDTF">2026-07-06T17:47:05Z</dcterms:created>
  <dcterms:modified xsi:type="dcterms:W3CDTF">2026-07-06T17:47:41Z</dcterms:modified>
</cp:coreProperties>
</file>